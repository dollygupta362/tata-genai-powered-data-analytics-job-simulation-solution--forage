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48D7-448E-4A46-8A89-70A9A5E3A26F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F1DB7-8D32-496F-822A-04C69571D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167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48D7-448E-4A46-8A89-70A9A5E3A26F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F1DB7-8D32-496F-822A-04C69571D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388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48D7-448E-4A46-8A89-70A9A5E3A26F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F1DB7-8D32-496F-822A-04C69571D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476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48D7-448E-4A46-8A89-70A9A5E3A26F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F1DB7-8D32-496F-822A-04C69571D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88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48D7-448E-4A46-8A89-70A9A5E3A26F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F1DB7-8D32-496F-822A-04C69571DF12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58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48D7-448E-4A46-8A89-70A9A5E3A26F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F1DB7-8D32-496F-822A-04C69571D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814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48D7-448E-4A46-8A89-70A9A5E3A26F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F1DB7-8D32-496F-822A-04C69571D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977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48D7-448E-4A46-8A89-70A9A5E3A26F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F1DB7-8D32-496F-822A-04C69571D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03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7A548D7-448E-4A46-8A89-70A9A5E3A26F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F1DB7-8D32-496F-822A-04C69571D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427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48D7-448E-4A46-8A89-70A9A5E3A26F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F1DB7-8D32-496F-822A-04C69571D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43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48D7-448E-4A46-8A89-70A9A5E3A26F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5F1DB7-8D32-496F-822A-04C69571D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458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7A548D7-448E-4A46-8A89-70A9A5E3A26F}" type="datetimeFigureOut">
              <a:rPr lang="en-IN" smtClean="0"/>
              <a:t>28-08-2025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75F1DB7-8D32-496F-822A-04C69571DF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092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C014A9B-65A9-3C47-B0E3-828F87B11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2016629"/>
            <a:ext cx="9601199" cy="164592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Precision Collections: AI That Listens, Learns, and Leads</a:t>
            </a:r>
            <a:endParaRPr lang="en-IN" sz="32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9951D7-412B-4EAA-E981-A993435C8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4286" y="4015008"/>
            <a:ext cx="6542312" cy="1046849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Driving outcomes through empathy, automation, and accountability.</a:t>
            </a:r>
            <a:endParaRPr lang="en-IN" sz="28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438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C3A5CF-EE54-E334-8FA0-9815E8F3ECF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IN" b="1" dirty="0">
                <a:latin typeface="Arial Rounded MT Bold" panose="020F0704030504030204" pitchFamily="34" charset="0"/>
              </a:rPr>
              <a:t>AI-Powered Collections Workflow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07149BA-CAE0-448C-51A8-A67AB6740F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89314" y="2603987"/>
            <a:ext cx="95250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Inputs –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Demographics, repayment history, credit use, macro data, bureau scores</a:t>
            </a:r>
            <a:endParaRPr lang="en-US" altLang="en-US" sz="20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Rounded MT Bold" panose="020F070403050403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Decision Logic –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Predictive model + business rules → risk tiers &amp; outreach priority</a:t>
            </a:r>
            <a:endParaRPr lang="en-US" altLang="en-US" sz="20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Rounded MT Bold" panose="020F070403050403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Actions –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 Automated SMS/email reminders, personalized restructuring/hardship offers</a:t>
            </a:r>
            <a:endParaRPr lang="en-US" altLang="en-US" sz="20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Rounded MT Bold" panose="020F070403050403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Learning Loop –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Rounded MT Bold" panose="020F0704030504030204" pitchFamily="34" charset="0"/>
              </a:rPr>
              <a:t>Track outcomes → retrain models &amp; refine strategies</a:t>
            </a:r>
          </a:p>
        </p:txBody>
      </p:sp>
    </p:spTree>
    <p:extLst>
      <p:ext uri="{BB962C8B-B14F-4D97-AF65-F5344CB8AC3E}">
        <p14:creationId xmlns:p14="http://schemas.microsoft.com/office/powerpoint/2010/main" val="994237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C7FA24-60DE-808B-E56A-7DF957BBB0B4}"/>
              </a:ext>
            </a:extLst>
          </p:cNvPr>
          <p:cNvSpPr/>
          <p:nvPr/>
        </p:nvSpPr>
        <p:spPr>
          <a:xfrm>
            <a:off x="1594757" y="92529"/>
            <a:ext cx="9002486" cy="8109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atin typeface="Arial Rounded MT Bold" panose="020F0704030504030204" pitchFamily="34" charset="0"/>
              </a:rPr>
              <a:t>End-to-End System Flow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3FE9368-AF03-7B2A-C34E-42829EB95003}"/>
              </a:ext>
            </a:extLst>
          </p:cNvPr>
          <p:cNvSpPr/>
          <p:nvPr/>
        </p:nvSpPr>
        <p:spPr>
          <a:xfrm>
            <a:off x="495306" y="1025977"/>
            <a:ext cx="2198902" cy="12409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 Rounded MT Bold" panose="020F0704030504030204" pitchFamily="34" charset="0"/>
              </a:rPr>
              <a:t>Customer Data </a:t>
            </a:r>
            <a:r>
              <a:rPr lang="en-US" sz="1400" b="1" dirty="0">
                <a:latin typeface="Constantia" panose="02030602050306030303" pitchFamily="18" charset="0"/>
              </a:rPr>
              <a:t>Profile &amp; repayment behavior inputs</a:t>
            </a:r>
            <a:endParaRPr lang="en-IN" sz="1400" b="1" dirty="0">
              <a:latin typeface="Constantia" panose="02030602050306030303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85A659-43FD-57C0-E46F-57132D59ECBC}"/>
              </a:ext>
            </a:extLst>
          </p:cNvPr>
          <p:cNvSpPr/>
          <p:nvPr/>
        </p:nvSpPr>
        <p:spPr>
          <a:xfrm>
            <a:off x="2694208" y="2109107"/>
            <a:ext cx="2198902" cy="12409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 Rounded MT Bold" panose="020F0704030504030204" pitchFamily="34" charset="0"/>
              </a:rPr>
              <a:t>Risk Scoring Model</a:t>
            </a:r>
          </a:p>
          <a:p>
            <a:pPr algn="ctr"/>
            <a:r>
              <a:rPr lang="en-US" sz="1400" b="1" dirty="0">
                <a:latin typeface="Constantia" panose="02030602050306030303" pitchFamily="18" charset="0"/>
              </a:rPr>
              <a:t>Predict delinquency, segment by risk</a:t>
            </a:r>
            <a:endParaRPr lang="en-IN" sz="1400" b="1" dirty="0">
              <a:latin typeface="Constantia" panose="02030602050306030303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1CA430-A055-4E45-660F-5D7BF56595A6}"/>
              </a:ext>
            </a:extLst>
          </p:cNvPr>
          <p:cNvSpPr/>
          <p:nvPr/>
        </p:nvSpPr>
        <p:spPr>
          <a:xfrm>
            <a:off x="4893110" y="3192237"/>
            <a:ext cx="2198902" cy="12409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 Rounded MT Bold" panose="020F0704030504030204" pitchFamily="34" charset="0"/>
              </a:rPr>
              <a:t>Decision Engine </a:t>
            </a:r>
          </a:p>
          <a:p>
            <a:pPr algn="ctr"/>
            <a:r>
              <a:rPr lang="en-US" sz="1400" b="1" dirty="0">
                <a:latin typeface="Constantia" panose="02030602050306030303" pitchFamily="18" charset="0"/>
              </a:rPr>
              <a:t>Prioritize outreach type and timing</a:t>
            </a:r>
            <a:endParaRPr lang="en-IN" sz="1400" b="1" dirty="0">
              <a:latin typeface="Constantia" panose="02030602050306030303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A21D46-071F-560D-C752-D9214B8F0B94}"/>
              </a:ext>
            </a:extLst>
          </p:cNvPr>
          <p:cNvSpPr/>
          <p:nvPr/>
        </p:nvSpPr>
        <p:spPr>
          <a:xfrm>
            <a:off x="7092012" y="4275367"/>
            <a:ext cx="2198902" cy="12409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 Rounded MT Bold" panose="020F0704030504030204" pitchFamily="34" charset="0"/>
              </a:rPr>
              <a:t>Outreach Actions</a:t>
            </a:r>
          </a:p>
          <a:p>
            <a:pPr algn="ctr"/>
            <a:r>
              <a:rPr lang="en-US" sz="1400" b="1" dirty="0">
                <a:latin typeface="Constantia" panose="02030602050306030303" pitchFamily="18" charset="0"/>
              </a:rPr>
              <a:t>Reminders, offers, repayment plans</a:t>
            </a:r>
            <a:endParaRPr lang="en-IN" sz="1400" b="1" dirty="0">
              <a:latin typeface="Constantia" panose="02030602050306030303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86B844-EC7F-75AD-647A-EFD62680446D}"/>
              </a:ext>
            </a:extLst>
          </p:cNvPr>
          <p:cNvSpPr/>
          <p:nvPr/>
        </p:nvSpPr>
        <p:spPr>
          <a:xfrm>
            <a:off x="9290914" y="5274128"/>
            <a:ext cx="2198902" cy="12409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rial Rounded MT Bold" panose="020F0704030504030204" pitchFamily="34" charset="0"/>
              </a:rPr>
              <a:t>Feedback Loop</a:t>
            </a:r>
          </a:p>
          <a:p>
            <a:pPr algn="ctr"/>
            <a:r>
              <a:rPr lang="en-US" sz="1400" b="1" dirty="0">
                <a:latin typeface="Constantia" panose="02030602050306030303" pitchFamily="18" charset="0"/>
              </a:rPr>
              <a:t>Track outcomes, retrain, improve</a:t>
            </a:r>
            <a:endParaRPr lang="en-IN" sz="1400" b="1" dirty="0">
              <a:latin typeface="Constantia" panose="02030602050306030303" pitchFamily="18" charset="0"/>
            </a:endParaRP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42583CFC-4745-4056-4DB8-61A31F57FE3E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16200000" flipH="1">
            <a:off x="1913160" y="1948545"/>
            <a:ext cx="462644" cy="109945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2592B8AC-C880-0DF1-0F05-BCF9089EF82F}"/>
              </a:ext>
            </a:extLst>
          </p:cNvPr>
          <p:cNvCxnSpPr/>
          <p:nvPr/>
        </p:nvCxnSpPr>
        <p:spPr>
          <a:xfrm rot="16200000" flipH="1">
            <a:off x="4112063" y="3031676"/>
            <a:ext cx="462644" cy="109945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F33A862A-2ED0-5171-9350-CC51A95E9CFD}"/>
              </a:ext>
            </a:extLst>
          </p:cNvPr>
          <p:cNvCxnSpPr/>
          <p:nvPr/>
        </p:nvCxnSpPr>
        <p:spPr>
          <a:xfrm rot="16200000" flipH="1">
            <a:off x="6310965" y="4114806"/>
            <a:ext cx="462644" cy="109945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B5C5BBDD-036E-9E56-D1D9-B5052D816EF6}"/>
              </a:ext>
            </a:extLst>
          </p:cNvPr>
          <p:cNvCxnSpPr/>
          <p:nvPr/>
        </p:nvCxnSpPr>
        <p:spPr>
          <a:xfrm rot="16200000" flipH="1">
            <a:off x="8509866" y="5197936"/>
            <a:ext cx="462644" cy="109945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16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ED90AF-373C-F025-A6D8-55D1DCDE4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IN" sz="20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Autonomous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D756A-C993-A027-527C-9F5932F37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713264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IN" sz="2000" dirty="0">
                <a:latin typeface="Arial Rounded MT Bold" panose="020F0704030504030204" pitchFamily="34" charset="0"/>
              </a:rPr>
              <a:t>Risk scoring and segmentation </a:t>
            </a:r>
          </a:p>
          <a:p>
            <a:pPr>
              <a:buClr>
                <a:schemeClr val="tx1"/>
              </a:buClr>
            </a:pPr>
            <a:r>
              <a:rPr lang="en-US" sz="2000" dirty="0">
                <a:latin typeface="Arial Rounded MT Bold" panose="020F0704030504030204" pitchFamily="34" charset="0"/>
              </a:rPr>
              <a:t>Outreach scheduling and channel selection</a:t>
            </a:r>
          </a:p>
          <a:p>
            <a:pPr>
              <a:buClr>
                <a:schemeClr val="tx1"/>
              </a:buClr>
            </a:pPr>
            <a:r>
              <a:rPr lang="en-IN" sz="2000" dirty="0">
                <a:latin typeface="Arial Rounded MT Bold" panose="020F0704030504030204" pitchFamily="34" charset="0"/>
              </a:rPr>
              <a:t>Monitoring repayment behaviour</a:t>
            </a:r>
          </a:p>
          <a:p>
            <a:pPr>
              <a:buClr>
                <a:schemeClr val="tx1"/>
              </a:buClr>
            </a:pPr>
            <a:r>
              <a:rPr lang="en-US" sz="2000" dirty="0">
                <a:latin typeface="Arial Rounded MT Bold" panose="020F0704030504030204" pitchFamily="34" charset="0"/>
              </a:rPr>
              <a:t>Model retraining based on feedback loops</a:t>
            </a:r>
            <a:endParaRPr lang="en-IN" sz="2000" dirty="0">
              <a:latin typeface="Arial Rounded MT Bold" panose="020F0704030504030204" pitchFamily="34" charset="0"/>
            </a:endParaRP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9F8D24-663C-B9AB-A8F0-57CEB5935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514742" cy="2713264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2000" dirty="0">
                <a:latin typeface="Arial Rounded MT Bold" panose="020F0704030504030204" pitchFamily="34" charset="0"/>
              </a:rPr>
              <a:t>Final approval for restructuring offers</a:t>
            </a:r>
          </a:p>
          <a:p>
            <a:pPr>
              <a:buClr>
                <a:schemeClr val="tx1"/>
              </a:buClr>
            </a:pPr>
            <a:r>
              <a:rPr lang="en-IN" sz="2000" dirty="0">
                <a:latin typeface="Arial Rounded MT Bold" panose="020F0704030504030204" pitchFamily="34" charset="0"/>
              </a:rPr>
              <a:t>Escalation handling for sensitive cases</a:t>
            </a:r>
          </a:p>
          <a:p>
            <a:pPr>
              <a:buClr>
                <a:schemeClr val="tx1"/>
              </a:buClr>
            </a:pPr>
            <a:r>
              <a:rPr lang="en-IN" sz="2000" dirty="0">
                <a:latin typeface="Arial Rounded MT Bold" panose="020F0704030504030204" pitchFamily="34" charset="0"/>
              </a:rPr>
              <a:t>Reviewing fairness audit reports</a:t>
            </a:r>
          </a:p>
          <a:p>
            <a:pPr>
              <a:buClr>
                <a:schemeClr val="tx1"/>
              </a:buClr>
            </a:pPr>
            <a:r>
              <a:rPr lang="en-US" sz="2000" dirty="0">
                <a:latin typeface="Arial Rounded MT Bold" panose="020F0704030504030204" pitchFamily="34" charset="0"/>
              </a:rPr>
              <a:t>Policy updates and compliance review</a:t>
            </a:r>
            <a:endParaRPr lang="en-IN" sz="2000" dirty="0">
              <a:latin typeface="Arial Rounded MT Bold" panose="020F07040305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74EB56-EC79-9E4A-1155-59FFDF69F6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sz="20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Human Oversight Activities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51C205-B73A-6322-F221-C8DB04C07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23614"/>
            <a:ext cx="7729728" cy="118872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IN" b="1" dirty="0">
                <a:latin typeface="Arial Rounded MT Bold" panose="020F0704030504030204" pitchFamily="34" charset="0"/>
              </a:rPr>
              <a:t>Autonomy vs. Human Oversight</a:t>
            </a:r>
          </a:p>
        </p:txBody>
      </p:sp>
    </p:spTree>
    <p:extLst>
      <p:ext uri="{BB962C8B-B14F-4D97-AF65-F5344CB8AC3E}">
        <p14:creationId xmlns:p14="http://schemas.microsoft.com/office/powerpoint/2010/main" val="2420796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DDBBF-4748-81A7-02AE-C05EE907C67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</a:rPr>
              <a:t>Safeguards for Fair and Ethical Automation</a:t>
            </a:r>
            <a:endParaRPr lang="en-IN" b="1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3CB92-3CED-2CDF-215B-E09A8A1AF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2000" dirty="0">
                <a:latin typeface="Arial Rounded MT Bold" panose="020F0704030504030204" pitchFamily="34" charset="0"/>
              </a:rPr>
              <a:t>Fairness Audits: Regular bias checks across demographic groups </a:t>
            </a:r>
          </a:p>
          <a:p>
            <a:pPr>
              <a:buClr>
                <a:schemeClr val="tx1"/>
              </a:buClr>
            </a:pPr>
            <a:r>
              <a:rPr lang="en-US" sz="2000" dirty="0">
                <a:latin typeface="Arial Rounded MT Bold" panose="020F0704030504030204" pitchFamily="34" charset="0"/>
              </a:rPr>
              <a:t>Explainability: Transparent decision logic for agents and customers  </a:t>
            </a:r>
          </a:p>
          <a:p>
            <a:pPr>
              <a:buClr>
                <a:schemeClr val="tx1"/>
              </a:buClr>
            </a:pPr>
            <a:r>
              <a:rPr lang="en-US" sz="2000" dirty="0">
                <a:latin typeface="Arial Rounded MT Bold" panose="020F0704030504030204" pitchFamily="34" charset="0"/>
              </a:rPr>
              <a:t>Regulatory Compliance: Adherence to ECOA, GDPR, and local laws   </a:t>
            </a:r>
          </a:p>
          <a:p>
            <a:pPr>
              <a:buClr>
                <a:schemeClr val="tx1"/>
              </a:buClr>
            </a:pPr>
            <a:r>
              <a:rPr lang="en-US" sz="2000" dirty="0">
                <a:latin typeface="Arial Rounded MT Bold" panose="020F0704030504030204" pitchFamily="34" charset="0"/>
              </a:rPr>
              <a:t>Human-in-the-Loop:: Oversight for critical or sensitive decisions</a:t>
            </a:r>
            <a:endParaRPr lang="en-IN" sz="20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452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A177EC-BF86-95EC-86AC-C1AC9EE9A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Business KPIs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0B2E29-307F-DA64-3546-A46AAE9FF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83436" y="3143249"/>
            <a:ext cx="4270248" cy="2909207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2000" dirty="0">
                <a:latin typeface="Arial Rounded MT Bold" panose="020F0704030504030204" pitchFamily="34" charset="0"/>
              </a:rPr>
              <a:t>15–25% reduction in delinquency rates </a:t>
            </a:r>
          </a:p>
          <a:p>
            <a:pPr>
              <a:buClr>
                <a:schemeClr val="tx1"/>
              </a:buClr>
            </a:pPr>
            <a:r>
              <a:rPr lang="en-US" sz="2000" dirty="0">
                <a:latin typeface="Arial Rounded MT Bold" panose="020F0704030504030204" pitchFamily="34" charset="0"/>
              </a:rPr>
              <a:t>20% decrease in operational costs  </a:t>
            </a:r>
          </a:p>
          <a:p>
            <a:pPr>
              <a:buClr>
                <a:schemeClr val="tx1"/>
              </a:buClr>
            </a:pPr>
            <a:r>
              <a:rPr lang="en-US" sz="2000" dirty="0">
                <a:latin typeface="Arial Rounded MT Bold" panose="020F0704030504030204" pitchFamily="34" charset="0"/>
              </a:rPr>
              <a:t>Improved recovery rates from high-risk segments </a:t>
            </a:r>
          </a:p>
          <a:p>
            <a:pPr>
              <a:buClr>
                <a:schemeClr val="tx1"/>
              </a:buClr>
            </a:pPr>
            <a:r>
              <a:rPr lang="en-US" sz="2000" dirty="0">
                <a:latin typeface="Arial Rounded MT Bold" panose="020F0704030504030204" pitchFamily="34" charset="0"/>
              </a:rPr>
              <a:t>Scalable collections across markets</a:t>
            </a:r>
            <a:endParaRPr lang="en-IN" sz="2000" dirty="0">
              <a:latin typeface="Arial Rounded MT Bold" panose="020F070403050403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BBEBF8-A384-0DD8-5ED8-24F9C90C4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8316" y="3143249"/>
            <a:ext cx="4253484" cy="2909207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en-US" sz="2000" dirty="0">
                <a:latin typeface="Arial Rounded MT Bold" panose="020F0704030504030204" pitchFamily="34" charset="0"/>
              </a:rPr>
              <a:t>Personalized, empathetic outreach  </a:t>
            </a:r>
          </a:p>
          <a:p>
            <a:pPr>
              <a:buClr>
                <a:schemeClr val="tx1"/>
              </a:buClr>
            </a:pPr>
            <a:r>
              <a:rPr lang="en-US" sz="2000" dirty="0">
                <a:latin typeface="Arial Rounded MT Bold" panose="020F0704030504030204" pitchFamily="34" charset="0"/>
              </a:rPr>
              <a:t>Increased trust and transparency  </a:t>
            </a:r>
          </a:p>
          <a:p>
            <a:pPr>
              <a:buClr>
                <a:schemeClr val="tx1"/>
              </a:buClr>
            </a:pPr>
            <a:r>
              <a:rPr lang="en-US" sz="2000" dirty="0">
                <a:latin typeface="Arial Rounded MT Bold" panose="020F0704030504030204" pitchFamily="34" charset="0"/>
              </a:rPr>
              <a:t>Reduced stress through proactive support  </a:t>
            </a:r>
          </a:p>
          <a:p>
            <a:pPr>
              <a:buClr>
                <a:schemeClr val="tx1"/>
              </a:buClr>
            </a:pPr>
            <a:r>
              <a:rPr lang="en-US" sz="2000" dirty="0">
                <a:latin typeface="Arial Rounded MT Bold" panose="020F0704030504030204" pitchFamily="34" charset="0"/>
              </a:rPr>
              <a:t>Better long-term financial health</a:t>
            </a:r>
            <a:endParaRPr lang="en-IN" sz="2000" dirty="0">
              <a:latin typeface="Arial Rounded MT Bold" panose="020F070403050403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0A98084-D599-E92B-D454-613E605C51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sz="20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Customer Outcomes</a:t>
            </a:r>
            <a:r>
              <a:rPr lang="en-IN" dirty="0"/>
              <a:t>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197D6C-92E8-6E4B-BBFC-5DEAEEE86CA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IN" b="1" dirty="0">
                <a:latin typeface="Arial Rounded MT Bold" panose="020F0704030504030204" pitchFamily="34" charset="0"/>
              </a:rPr>
              <a:t>Strategic Benefits for </a:t>
            </a:r>
            <a:r>
              <a:rPr lang="en-IN" b="1" dirty="0" err="1">
                <a:latin typeface="Arial Rounded MT Bold" panose="020F0704030504030204" pitchFamily="34" charset="0"/>
              </a:rPr>
              <a:t>Geldium</a:t>
            </a:r>
            <a:endParaRPr lang="en-IN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65342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38</TotalTime>
  <Words>258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Rounded MT Bold</vt:lpstr>
      <vt:lpstr>Constantia</vt:lpstr>
      <vt:lpstr>Gill Sans MT</vt:lpstr>
      <vt:lpstr>Parcel</vt:lpstr>
      <vt:lpstr>Precision Collections: AI That Listens, Learns, and Leads</vt:lpstr>
      <vt:lpstr>AI-Powered Collections Workflow</vt:lpstr>
      <vt:lpstr>PowerPoint Presentation</vt:lpstr>
      <vt:lpstr>Autonomy vs. Human Oversight</vt:lpstr>
      <vt:lpstr>Safeguards for Fair and Ethical Automation</vt:lpstr>
      <vt:lpstr>Strategic Benefits for Geldium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Satyam Kumar</dc:creator>
  <cp:lastModifiedBy>Satyam Kumar</cp:lastModifiedBy>
  <cp:revision>1</cp:revision>
  <dcterms:created xsi:type="dcterms:W3CDTF">2025-08-28T10:32:39Z</dcterms:created>
  <dcterms:modified xsi:type="dcterms:W3CDTF">2025-08-28T11:10:53Z</dcterms:modified>
</cp:coreProperties>
</file>